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8"/>
  </p:notesMasterIdLst>
  <p:sldIdLst>
    <p:sldId id="256" r:id="rId2"/>
    <p:sldId id="276" r:id="rId3"/>
    <p:sldId id="275" r:id="rId4"/>
    <p:sldId id="269" r:id="rId5"/>
    <p:sldId id="257" r:id="rId6"/>
    <p:sldId id="274" r:id="rId7"/>
    <p:sldId id="273" r:id="rId8"/>
    <p:sldId id="277" r:id="rId9"/>
    <p:sldId id="268" r:id="rId10"/>
    <p:sldId id="272" r:id="rId11"/>
    <p:sldId id="271" r:id="rId12"/>
    <p:sldId id="278" r:id="rId13"/>
    <p:sldId id="279" r:id="rId14"/>
    <p:sldId id="280" r:id="rId15"/>
    <p:sldId id="270"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838CDC-8E78-5C24-9F45-B784226C1561}" v="95" dt="2025-12-02T17:11:35.17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sz="1400"/>
              <a:t>Text-to-Video of Various PIB Press Releases using Artificial Intelligence / Machine Learning / Generative Adversarial Networks in English and 13 Regional Languages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US" altLang="en-US" sz="1800" dirty="0">
                <a:latin typeface="Cambria" panose="02040503050406030204" pitchFamily="18" charset="0"/>
                <a:ea typeface="Cambria" panose="02040503050406030204" pitchFamily="18" charset="0"/>
              </a:rPr>
              <a:t>PSCS_36</a:t>
            </a: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Dr.Jothish C</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Associate Professor</a:t>
            </a: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40798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lang="en-US" alt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lang="en-US" alt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20221CSE0251</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Bhargavi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20221CSE0126</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DOODAKULA SAJIDA</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altLang="en-US" sz="1800" u="none" strike="noStrike" cap="none" dirty="0"/>
                        <a:t>20221CSE0417</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en-US" sz="1600" u="none" strike="noStrike" cap="none" dirty="0"/>
                        <a:t>PINNAPAREDDY YOGANANDA REDDY</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dirty="0">
                <a:solidFill>
                  <a:srgbClr val="17365D"/>
                </a:solidFill>
                <a:latin typeface="Cambria"/>
                <a:ea typeface="Cambria"/>
                <a:cs typeface="Verdana" panose="020B0604030504040204"/>
                <a:sym typeface="Verdana" panose="020B0604030504040204"/>
              </a:rPr>
              <a:t>Review-5</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alt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Text to Video of various PIB Press Releases</a:t>
            </a:r>
          </a:p>
          <a:p>
            <a:pPr>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a:t>
            </a:r>
            <a:r>
              <a:rPr lang="en-US" sz="1800" b="1" dirty="0" err="1">
                <a:solidFill>
                  <a:schemeClr val="accent1"/>
                </a:solidFill>
                <a:latin typeface="Cambria"/>
                <a:ea typeface="Cambria"/>
                <a:cs typeface="Verdana" panose="020B0604030504040204"/>
                <a:sym typeface="Verdana" panose="020B0604030504040204"/>
              </a:rPr>
              <a:t>HoD</a:t>
            </a:r>
            <a:r>
              <a:rPr lang="en-US" sz="1800" b="1" dirty="0">
                <a:solidFill>
                  <a:schemeClr val="accent1"/>
                </a:solidFill>
                <a:latin typeface="Cambria"/>
                <a:ea typeface="Cambria"/>
                <a:cs typeface="Verdana" panose="020B0604030504040204"/>
                <a:sym typeface="Verdana" panose="020B0604030504040204"/>
              </a:rPr>
              <a:t>: </a:t>
            </a:r>
            <a:r>
              <a:rPr lang="en-US" sz="1800" b="1" dirty="0">
                <a:solidFill>
                  <a:schemeClr val="tx1"/>
                </a:solidFill>
                <a:latin typeface="Cambria"/>
                <a:ea typeface="Cambria"/>
                <a:cs typeface="Verdana" panose="020B0604030504040204"/>
                <a:sym typeface="Verdana" panose="020B0604030504040204"/>
              </a:rPr>
              <a:t>Dr . Blessed Prince</a:t>
            </a:r>
            <a:endParaRPr lang="en-US" sz="1800" b="1" dirty="0">
              <a:solidFill>
                <a:schemeClr val="tx1"/>
              </a:solidFill>
              <a:latin typeface="Cambria"/>
              <a:ea typeface="Cambria"/>
              <a:cs typeface="Verdana" panose="020B0604030504040204"/>
            </a:endParaRPr>
          </a:p>
          <a:p>
            <a:pPr>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Project </a:t>
            </a:r>
            <a:r>
              <a:rPr lang="en-US" sz="1800" b="1" i="0" u="none" strike="noStrike" cap="none" dirty="0" err="1">
                <a:solidFill>
                  <a:schemeClr val="accent1"/>
                </a:solidFill>
                <a:latin typeface="Cambria"/>
                <a:ea typeface="Cambria"/>
                <a:cs typeface="Verdana" panose="020B0604030504040204"/>
                <a:sym typeface="Verdana" panose="020B0604030504040204"/>
              </a:rPr>
              <a:t>Coordinator:</a:t>
            </a:r>
            <a:r>
              <a:rPr lang="en-US" sz="1800" b="1" dirty="0" err="1">
                <a:solidFill>
                  <a:schemeClr val="accent1"/>
                </a:solidFill>
                <a:latin typeface="Cambria"/>
                <a:ea typeface="Cambria"/>
                <a:cs typeface="Verdana" panose="020B0604030504040204"/>
                <a:sym typeface="Verdana" panose="020B0604030504040204"/>
              </a:rPr>
              <a:t>Mr.Muthuraju</a:t>
            </a:r>
            <a:r>
              <a:rPr lang="en-US" sz="1800" b="1" dirty="0">
                <a:solidFill>
                  <a:schemeClr val="accent1"/>
                </a:solidFill>
                <a:latin typeface="Cambria"/>
                <a:ea typeface="Cambria"/>
                <a:cs typeface="Verdana" panose="020B0604030504040204"/>
                <a:sym typeface="Verdana" panose="020B0604030504040204"/>
              </a:rPr>
              <a:t> V</a:t>
            </a:r>
            <a:endParaRPr lang="en-US" sz="1800" b="1">
              <a:solidFill>
                <a:schemeClr val="accent1"/>
              </a:solidFill>
              <a:latin typeface="Cambria" panose="02040503050406030204" pitchFamily="18" charset="0"/>
              <a:ea typeface="Cambria" panose="02040503050406030204" pitchFamily="18" charset="0"/>
              <a:cs typeface="Verdana" panose="020B0604030504040204"/>
            </a:endParaRPr>
          </a:p>
          <a:p>
            <a:pPr lvl="0">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School Project Coordinators: </a:t>
            </a:r>
            <a:r>
              <a:rPr lang="en-US" sz="1800" b="1" i="0" u="none" strike="noStrike" cap="none" dirty="0">
                <a:solidFill>
                  <a:schemeClr val="tx1"/>
                </a:solidFill>
                <a:latin typeface="Cambria"/>
                <a:ea typeface="Cambria"/>
                <a:cs typeface="Verdana" panose="020B0604030504040204"/>
                <a:sym typeface="Verdana" panose="020B0604030504040204"/>
              </a:rPr>
              <a:t>Dr. Sampath A K , Dr. Geetha A </a:t>
            </a:r>
            <a:endParaRPr sz="1800" b="1" i="0" u="none" strike="noStrike" cap="none" dirty="0">
              <a:solidFill>
                <a:schemeClr val="tx1"/>
              </a:solidFill>
              <a:latin typeface="Cambria"/>
              <a:ea typeface="Cambria"/>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atin typeface="Cambria" panose="02040503050406030204" pitchFamily="18" charset="0"/>
                <a:ea typeface="Cambria" panose="02040503050406030204" pitchFamily="18" charset="0"/>
                <a:sym typeface="+mn-ea"/>
              </a:rPr>
              <a:t>Problem Statement Number: </a:t>
            </a:r>
            <a:r>
              <a:rPr lang="en-US" altLang="en-US">
                <a:latin typeface="Cambria" panose="02040503050406030204" pitchFamily="18" charset="0"/>
                <a:cs typeface="Cambria" panose="02040503050406030204" pitchFamily="18" charset="0"/>
              </a:rPr>
              <a:t>PSCS_36</a:t>
            </a:r>
          </a:p>
        </p:txBody>
      </p:sp>
      <p:sp>
        <p:nvSpPr>
          <p:cNvPr id="3" name="Text Placeholder 2"/>
          <p:cNvSpPr>
            <a:spLocks noGrp="1"/>
          </p:cNvSpPr>
          <p:nvPr>
            <p:ph type="body" idx="1"/>
          </p:nvPr>
        </p:nvSpPr>
        <p:spPr/>
        <p:txBody>
          <a:bodyPr>
            <a:normAutofit/>
          </a:bodyPr>
          <a:lstStyle/>
          <a:p>
            <a:pPr marL="495300" indent="-342900" algn="just">
              <a:spcBef>
                <a:spcPts val="0"/>
              </a:spcBef>
              <a:buFont typeface="Wingdings" panose="05000000000000000000" pitchFamily="2" charset="2"/>
              <a:buChar char="Ø"/>
            </a:pPr>
            <a:r>
              <a:rPr lang="en-US" b="1">
                <a:latin typeface="Cambria" panose="02040503050406030204" pitchFamily="18" charset="0"/>
                <a:ea typeface="Cambria" panose="02040503050406030204" pitchFamily="18" charset="0"/>
                <a:sym typeface="+mn-ea"/>
              </a:rPr>
              <a:t>Organization</a:t>
            </a:r>
            <a:r>
              <a:rPr lang="en-US">
                <a:latin typeface="Cambria" panose="02040503050406030204" pitchFamily="18" charset="0"/>
                <a:ea typeface="Cambria" panose="02040503050406030204" pitchFamily="18" charset="0"/>
                <a:sym typeface="+mn-ea"/>
              </a:rPr>
              <a:t>: </a:t>
            </a:r>
            <a:r>
              <a:rPr lang="en-US" altLang="en-US" dirty="0">
                <a:latin typeface="Cambria" panose="02040503050406030204" pitchFamily="18" charset="0"/>
                <a:ea typeface="Cambria" panose="02040503050406030204" pitchFamily="18" charset="0"/>
                <a:sym typeface="+mn-ea"/>
              </a:rPr>
              <a:t>Ministry of Information and Broadcasting</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US" b="1">
                <a:latin typeface="Cambria" panose="02040503050406030204" pitchFamily="18" charset="0"/>
                <a:ea typeface="Cambria" panose="02040503050406030204" pitchFamily="18" charset="0"/>
                <a:sym typeface="+mn-ea"/>
              </a:rPr>
              <a:t>Category (Hardware / Software / Both) </a:t>
            </a:r>
            <a:r>
              <a:rPr lang="en-US">
                <a:latin typeface="Cambria" panose="02040503050406030204" pitchFamily="18" charset="0"/>
                <a:ea typeface="Cambria" panose="02040503050406030204" pitchFamily="18" charset="0"/>
                <a:sym typeface="+mn-ea"/>
              </a:rPr>
              <a:t>:Software</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US" b="1">
                <a:latin typeface="Cambria" panose="02040503050406030204" pitchFamily="18" charset="0"/>
                <a:ea typeface="Cambria" panose="02040503050406030204" pitchFamily="18" charset="0"/>
                <a:sym typeface="+mn-ea"/>
              </a:rPr>
              <a:t>Problem Description</a:t>
            </a:r>
            <a:r>
              <a:rPr lang="en-US">
                <a:latin typeface="Cambria" panose="02040503050406030204" pitchFamily="18" charset="0"/>
                <a:ea typeface="Cambria" panose="02040503050406030204" pitchFamily="18" charset="0"/>
                <a:sym typeface="+mn-ea"/>
              </a:rPr>
              <a:t>: </a:t>
            </a:r>
            <a:r>
              <a:rPr lang="en-US" altLang="en-US" dirty="0">
                <a:latin typeface="Cambria" panose="02040503050406030204" pitchFamily="18" charset="0"/>
                <a:ea typeface="Cambria" panose="02040503050406030204" pitchFamily="18" charset="0"/>
              </a:rPr>
              <a:t>Government press releases are often long, text-heavy, and inaccessible to a wide audience, especially to those with literacy barriers or time constraints. There is no automated, multilingual tool that can transform these documents into engaging video formats with narration and visuals.</a:t>
            </a:r>
          </a:p>
          <a:p>
            <a:pPr marL="495300" indent="-342900" algn="just">
              <a:lnSpc>
                <a:spcPct val="200000"/>
              </a:lnSpc>
              <a:spcBef>
                <a:spcPts val="0"/>
              </a:spcBef>
              <a:buFont typeface="Wingdings" panose="05000000000000000000" pitchFamily="2" charset="2"/>
              <a:buChar char="Ø"/>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atin typeface="Cambria" panose="02040503050406030204" pitchFamily="18" charset="0"/>
                <a:ea typeface="Cambria" panose="02040503050406030204" pitchFamily="18" charset="0"/>
                <a:sym typeface="+mn-ea"/>
              </a:rPr>
              <a:t>Content</a:t>
            </a:r>
            <a:endParaRPr lang="en-US"/>
          </a:p>
        </p:txBody>
      </p:sp>
      <p:sp>
        <p:nvSpPr>
          <p:cNvPr id="3" name="Text Placeholder 2"/>
          <p:cNvSpPr>
            <a:spLocks noGrp="1"/>
          </p:cNvSpPr>
          <p:nvPr>
            <p:ph type="body" idx="1"/>
          </p:nvPr>
        </p:nvSpPr>
        <p:spPr/>
        <p:txBody>
          <a:bodyPr>
            <a:normAutofit fontScale="80000"/>
          </a:bodyPr>
          <a:lstStyle/>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sym typeface="+mn-ea"/>
              </a:rPr>
              <a:t>Problem Statement</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sym typeface="+mn-ea"/>
              </a:rPr>
              <a:t>Objectives</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sym typeface="+mn-ea"/>
              </a:rPr>
              <a:t>Background and Related work for title Selection</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sym typeface="+mn-ea"/>
              </a:rPr>
              <a:t>Analysis of Problem Statement</a:t>
            </a:r>
            <a:endParaRPr lang="en-US">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a:latin typeface="Cambria" panose="02040503050406030204" pitchFamily="18" charset="0"/>
                <a:ea typeface="Cambria" panose="02040503050406030204" pitchFamily="18" charset="0"/>
                <a:sym typeface="+mn-ea"/>
              </a:rPr>
              <a:t>Innovation or Novel Contributions</a:t>
            </a:r>
            <a:endParaRPr lang="en-US">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err="1">
                <a:latin typeface="Cambria" panose="02040503050406030204" pitchFamily="18" charset="0"/>
                <a:ea typeface="Cambria" panose="02040503050406030204" pitchFamily="18" charset="0"/>
                <a:sym typeface="+mn-ea"/>
              </a:rPr>
              <a:t>Git</a:t>
            </a:r>
            <a:r>
              <a:rPr lang="en-US">
                <a:latin typeface="Cambria" panose="02040503050406030204" pitchFamily="18" charset="0"/>
                <a:ea typeface="Cambria" panose="02040503050406030204" pitchFamily="18" charset="0"/>
                <a:sym typeface="+mn-ea"/>
              </a:rPr>
              <a:t>-hub Link</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sym typeface="+mn-ea"/>
              </a:rPr>
              <a:t>Timeline of the Project</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a:latin typeface="Cambria" panose="02040503050406030204" pitchFamily="18" charset="0"/>
                <a:ea typeface="Cambria" panose="02040503050406030204" pitchFamily="18" charset="0"/>
                <a:sym typeface="+mn-ea"/>
              </a:rPr>
              <a:t>References</a:t>
            </a: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a:latin typeface="Cambria" panose="02040503050406030204" pitchFamily="18" charset="0"/>
              <a:ea typeface="Cambria" panose="02040503050406030204" pitchFamily="18" charset="0"/>
            </a:endParaRPr>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sym typeface="+mn-ea"/>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03910" y="1143001"/>
            <a:ext cx="10668000" cy="4953000"/>
          </a:xfrm>
          <a:prstGeom prst="rect">
            <a:avLst/>
          </a:prstGeom>
          <a:noFill/>
          <a:ln>
            <a:noFill/>
          </a:ln>
        </p:spPr>
        <p:txBody>
          <a:bodyPr spcFirstLastPara="1" wrap="square" lIns="91425" tIns="45700" rIns="91425" bIns="45700" anchor="t" anchorCtr="0">
            <a:normAutofit lnSpcReduction="20000"/>
          </a:bodyPr>
          <a:lstStyle/>
          <a:p>
            <a:pPr algn="l">
              <a:defRPr sz="1400"/>
            </a:pPr>
            <a:r>
              <a:rPr lang="en-US" sz="2800" b="1">
                <a:latin typeface="Cambria" panose="02040503050406030204" pitchFamily="18" charset="0"/>
                <a:ea typeface="Cambria" panose="02040503050406030204" pitchFamily="18" charset="0"/>
                <a:sym typeface="+mn-ea"/>
              </a:rPr>
              <a:t>Problem Description</a:t>
            </a:r>
            <a:r>
              <a:rPr lang="en-US" sz="2800">
                <a:latin typeface="Cambria" panose="02040503050406030204" pitchFamily="18" charset="0"/>
                <a:ea typeface="Cambria" panose="02040503050406030204" pitchFamily="18" charset="0"/>
                <a:sym typeface="+mn-ea"/>
              </a:rPr>
              <a:t>: </a:t>
            </a:r>
            <a:r>
              <a:rPr lang="en-US" altLang="en-US" sz="2800" dirty="0">
                <a:latin typeface="Cambria" panose="02040503050406030204" pitchFamily="18" charset="0"/>
                <a:ea typeface="Cambria" panose="02040503050406030204" pitchFamily="18" charset="0"/>
              </a:rPr>
              <a:t>Press releases from the Press Information Bureau (PIB) are currently available in text form, which may fail to capture user attention due to declining attention spans. The project proposes developing AI-powered software that automatically converts PIB press releases into engaging videos in English and 13 regional languages, integrating copyright-free multimedia, text-to-speech narration, and a review-and-approval workflow.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sym typeface="+mn-ea"/>
              </a:rPr>
              <a:t>Objectives: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387177" y="1125278"/>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endParaRPr lang="en-US" altLang="en-US" sz="14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altLang="en-US" sz="2000" b="1" dirty="0">
                <a:latin typeface="Cambria" panose="02040503050406030204" pitchFamily="18" charset="0"/>
                <a:ea typeface="Cambria" panose="02040503050406030204" pitchFamily="18" charset="0"/>
              </a:rPr>
              <a:t>Automate press release parsing and summarization.</a:t>
            </a:r>
          </a:p>
          <a:p>
            <a:pPr marL="495300" indent="-342900" algn="just">
              <a:lnSpc>
                <a:spcPct val="200000"/>
              </a:lnSpc>
              <a:spcBef>
                <a:spcPts val="0"/>
              </a:spcBef>
              <a:buFont typeface="Arial" panose="020B0604020202020204" pitchFamily="34" charset="0"/>
              <a:buChar char="•"/>
            </a:pPr>
            <a:r>
              <a:rPr lang="en-US" altLang="en-US" sz="2000" b="1" dirty="0">
                <a:latin typeface="Cambria" panose="02040503050406030204" pitchFamily="18" charset="0"/>
                <a:ea typeface="Cambria" panose="02040503050406030204" pitchFamily="18" charset="0"/>
              </a:rPr>
              <a:t>Convert text to multilingual audio narration.</a:t>
            </a:r>
          </a:p>
          <a:p>
            <a:pPr marL="495300" indent="-342900" algn="just">
              <a:lnSpc>
                <a:spcPct val="200000"/>
              </a:lnSpc>
              <a:spcBef>
                <a:spcPts val="0"/>
              </a:spcBef>
              <a:buFont typeface="Arial" panose="020B0604020202020204" pitchFamily="34" charset="0"/>
              <a:buChar char="•"/>
            </a:pPr>
            <a:r>
              <a:rPr lang="en-US" altLang="en-US" sz="2000" b="1" dirty="0">
                <a:latin typeface="Cambria" panose="02040503050406030204" pitchFamily="18" charset="0"/>
                <a:ea typeface="Cambria" panose="02040503050406030204" pitchFamily="18" charset="0"/>
              </a:rPr>
              <a:t>Add relevant images/videos for better engagement.</a:t>
            </a:r>
          </a:p>
          <a:p>
            <a:pPr marL="495300" indent="-342900" algn="just">
              <a:lnSpc>
                <a:spcPct val="200000"/>
              </a:lnSpc>
              <a:spcBef>
                <a:spcPts val="0"/>
              </a:spcBef>
              <a:buFont typeface="Arial" panose="020B0604020202020204" pitchFamily="34" charset="0"/>
              <a:buChar char="•"/>
            </a:pPr>
            <a:r>
              <a:rPr lang="en-US" altLang="en-US" sz="2000" b="1" dirty="0">
                <a:latin typeface="Cambria" panose="02040503050406030204" pitchFamily="18" charset="0"/>
                <a:ea typeface="Cambria" panose="02040503050406030204" pitchFamily="18" charset="0"/>
              </a:rPr>
              <a:t>Provide an easy-to-use web interface for users to upload and generate videos.</a:t>
            </a:r>
          </a:p>
        </p:txBody>
      </p:sp>
      <p:sp>
        <p:nvSpPr>
          <p:cNvPr id="2" name="Text Box 1"/>
          <p:cNvSpPr txBox="1"/>
          <p:nvPr/>
        </p:nvSpPr>
        <p:spPr>
          <a:xfrm>
            <a:off x="5316220" y="1285240"/>
            <a:ext cx="6096000" cy="306705"/>
          </a:xfrm>
          <a:prstGeom prst="rect">
            <a:avLst/>
          </a:prstGeom>
          <a:noFill/>
        </p:spPr>
        <p:txBody>
          <a:bodyPr wrap="square" rtlCol="0" anchor="t">
            <a:spAutoFit/>
          </a:bodyPr>
          <a:lstStyle/>
          <a:p>
            <a:endParaRPr lang="en-US">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sym typeface="+mn-ea"/>
              </a:rPr>
              <a:t>Background and Related Work:</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40517" y="1188143"/>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altLang="en-US" sz="2000" dirty="0">
                <a:latin typeface="Cambria" panose="02040503050406030204" pitchFamily="18" charset="0"/>
                <a:ea typeface="Cambria" panose="02040503050406030204" pitchFamily="18" charset="0"/>
                <a:cs typeface="Cambria" panose="02040503050406030204" pitchFamily="18" charset="0"/>
              </a:rPr>
              <a:t>AI-based summarization (T5, BART) widely used in news processing.</a:t>
            </a:r>
          </a:p>
          <a:p>
            <a:pPr marL="495300" indent="-342900" algn="just">
              <a:lnSpc>
                <a:spcPct val="200000"/>
              </a:lnSpc>
              <a:spcBef>
                <a:spcPts val="0"/>
              </a:spcBef>
              <a:buFont typeface="Arial" panose="020B0604020202020204" pitchFamily="34" charset="0"/>
              <a:buChar char="•"/>
            </a:pPr>
            <a:r>
              <a:rPr lang="en-US" altLang="en-US" sz="2000" dirty="0">
                <a:latin typeface="Cambria" panose="02040503050406030204" pitchFamily="18" charset="0"/>
                <a:ea typeface="Cambria" panose="02040503050406030204" pitchFamily="18" charset="0"/>
                <a:cs typeface="Cambria" panose="02040503050406030204" pitchFamily="18" charset="0"/>
              </a:rPr>
              <a:t>Text-to-Speech services (Google TTS, Amazon Polly) in commercial apps.</a:t>
            </a:r>
          </a:p>
          <a:p>
            <a:pPr marL="495300" indent="-342900" algn="just">
              <a:lnSpc>
                <a:spcPct val="200000"/>
              </a:lnSpc>
              <a:spcBef>
                <a:spcPts val="0"/>
              </a:spcBef>
              <a:buFont typeface="Arial" panose="020B0604020202020204" pitchFamily="34" charset="0"/>
              <a:buChar char="•"/>
            </a:pPr>
            <a:r>
              <a:rPr lang="en-US" altLang="en-US" sz="2000" dirty="0">
                <a:latin typeface="Cambria" panose="02040503050406030204" pitchFamily="18" charset="0"/>
                <a:ea typeface="Cambria" panose="02040503050406030204" pitchFamily="18" charset="0"/>
                <a:cs typeface="Cambria" panose="02040503050406030204" pitchFamily="18" charset="0"/>
              </a:rPr>
              <a:t>Existing tools lack multilingual + automated video generation for official documents.</a:t>
            </a:r>
          </a:p>
          <a:p>
            <a:pPr marL="495300" indent="-342900" algn="just">
              <a:lnSpc>
                <a:spcPct val="200000"/>
              </a:lnSpc>
              <a:spcBef>
                <a:spcPts val="0"/>
              </a:spcBef>
              <a:buFont typeface="Arial" panose="020B0604020202020204" pitchFamily="34" charset="0"/>
              <a:buChar char="•"/>
            </a:pPr>
            <a:r>
              <a:rPr lang="en-US" altLang="en-US" sz="2000" dirty="0">
                <a:latin typeface="Cambria" panose="02040503050406030204" pitchFamily="18" charset="0"/>
                <a:ea typeface="Cambria" panose="02040503050406030204" pitchFamily="18" charset="0"/>
                <a:cs typeface="Cambria" panose="02040503050406030204" pitchFamily="18" charset="0"/>
              </a:rPr>
              <a:t>GANs and ML models have been applied in news summarization and AI-driven media production.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481330" y="193675"/>
            <a:ext cx="11510010" cy="5969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a:sym typeface="+mn-ea"/>
              </a:rPr>
              <a:t>Innovation or Novel Contributions: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374650" y="908685"/>
            <a:ext cx="11097260" cy="5546090"/>
          </a:xfrm>
          <a:prstGeom prst="rect">
            <a:avLst/>
          </a:prstGeom>
          <a:noFill/>
          <a:ln>
            <a:noFill/>
          </a:ln>
        </p:spPr>
        <p:txBody>
          <a:bodyPr spcFirstLastPara="1" wrap="square" lIns="91425" tIns="45700" rIns="91425" bIns="45700" anchor="t" anchorCtr="0">
            <a:normAutofit lnSpcReduction="20000"/>
          </a:bodyPr>
          <a:lstStyle/>
          <a:p>
            <a:pPr>
              <a:buFont typeface="Wingdings" panose="05000000000000000000" pitchFamily="2" charset="2"/>
              <a:buChar char="Ø"/>
            </a:pPr>
            <a:r>
              <a:rPr lang="en-US" altLang="en-US" b="1"/>
              <a:t>NLP &amp; Summarization</a:t>
            </a:r>
            <a:r>
              <a:rPr lang="en-US" altLang="en-US"/>
              <a:t>: spaCy, HuggingFace Transformers (T5/BART).</a:t>
            </a:r>
          </a:p>
          <a:p>
            <a:pPr>
              <a:buFont typeface="Wingdings" panose="05000000000000000000" pitchFamily="2" charset="2"/>
              <a:buChar char="Ø"/>
            </a:pPr>
            <a:endParaRPr lang="en-US" altLang="en-US"/>
          </a:p>
          <a:p>
            <a:pPr>
              <a:buFont typeface="Wingdings" panose="05000000000000000000" pitchFamily="2" charset="2"/>
              <a:buChar char="Ø"/>
            </a:pPr>
            <a:r>
              <a:rPr lang="en-US" altLang="en-US" b="1"/>
              <a:t>TTS</a:t>
            </a:r>
            <a:r>
              <a:rPr lang="en-US" altLang="en-US"/>
              <a:t>: Google TTS, Amazon Polly, OpenAI TTS.</a:t>
            </a:r>
          </a:p>
          <a:p>
            <a:pPr>
              <a:buFont typeface="Wingdings" panose="05000000000000000000" pitchFamily="2" charset="2"/>
              <a:buChar char="Ø"/>
            </a:pPr>
            <a:endParaRPr lang="en-US" altLang="en-US"/>
          </a:p>
          <a:p>
            <a:pPr>
              <a:buFont typeface="Wingdings" panose="05000000000000000000" pitchFamily="2" charset="2"/>
              <a:buChar char="Ø"/>
            </a:pPr>
            <a:r>
              <a:rPr lang="en-US" altLang="en-US" b="1"/>
              <a:t>Media Retrieval</a:t>
            </a:r>
            <a:r>
              <a:rPr lang="en-US" altLang="en-US"/>
              <a:t>: Pixabay API, Unsplash API.</a:t>
            </a:r>
          </a:p>
          <a:p>
            <a:pPr>
              <a:buFont typeface="Wingdings" panose="05000000000000000000" pitchFamily="2" charset="2"/>
              <a:buChar char="Ø"/>
            </a:pPr>
            <a:endParaRPr lang="en-US" altLang="en-US"/>
          </a:p>
          <a:p>
            <a:pPr>
              <a:buFont typeface="Wingdings" panose="05000000000000000000" pitchFamily="2" charset="2"/>
              <a:buChar char="Ø"/>
            </a:pPr>
            <a:r>
              <a:rPr lang="en-US" altLang="en-US" b="1"/>
              <a:t>Video Processing</a:t>
            </a:r>
            <a:r>
              <a:rPr lang="en-US" altLang="en-US"/>
              <a:t>: FFmpeg, MoviePy, OpenCV.</a:t>
            </a:r>
          </a:p>
          <a:p>
            <a:pPr>
              <a:buFont typeface="Wingdings" panose="05000000000000000000" pitchFamily="2" charset="2"/>
              <a:buChar char="Ø"/>
            </a:pPr>
            <a:endParaRPr lang="en-US" altLang="en-US"/>
          </a:p>
          <a:p>
            <a:pPr>
              <a:buFont typeface="Wingdings" panose="05000000000000000000" pitchFamily="2" charset="2"/>
              <a:buChar char="Ø"/>
            </a:pPr>
            <a:r>
              <a:rPr lang="en-US" altLang="en-US" b="1"/>
              <a:t>Frontend</a:t>
            </a:r>
            <a:r>
              <a:rPr lang="en-US" altLang="en-US"/>
              <a:t>: HTML, CSS, JavaScript (Flask templates for approval UI)</a:t>
            </a:r>
          </a:p>
          <a:p>
            <a:pPr>
              <a:buFont typeface="Wingdings" panose="05000000000000000000" pitchFamily="2" charset="2"/>
              <a:buChar char="Ø"/>
            </a:pPr>
            <a:endParaRPr lang="en-US" altLang="en-US"/>
          </a:p>
          <a:p>
            <a:pPr>
              <a:buFont typeface="Wingdings" panose="05000000000000000000" pitchFamily="2" charset="2"/>
              <a:buChar char="Ø"/>
            </a:pPr>
            <a:r>
              <a:rPr lang="en-US" altLang="en-US" b="1"/>
              <a:t>Backend</a:t>
            </a:r>
            <a:r>
              <a:rPr lang="en-US" altLang="en-US"/>
              <a:t>: Python (Flask framework)</a:t>
            </a:r>
          </a:p>
          <a:p>
            <a:pPr marL="342900" lvl="0" indent="-190500" algn="just" rtl="0">
              <a:spcBef>
                <a:spcPts val="0"/>
              </a:spcBef>
              <a:spcAft>
                <a:spcPts val="0"/>
              </a:spcAft>
              <a:buClr>
                <a:schemeClr val="dk1"/>
              </a:buClr>
              <a:buSzPct val="100000"/>
              <a:buNone/>
            </a:pPr>
            <a:endParaRPr lang="en-US"/>
          </a:p>
          <a:p>
            <a:pPr marL="342900" lvl="0" indent="-190500" algn="just" rtl="0">
              <a:spcBef>
                <a:spcPts val="0"/>
              </a:spcBef>
              <a:spcAft>
                <a:spcPts val="0"/>
              </a:spcAft>
              <a:buClr>
                <a:schemeClr val="dk1"/>
              </a:buClr>
              <a:buSzPct val="100000"/>
              <a:buNone/>
            </a:pPr>
            <a:endParaRPr lang="en-US"/>
          </a:p>
          <a:p>
            <a:pPr marL="342900" lvl="0" indent="-190500" algn="just" rtl="0">
              <a:spcBef>
                <a:spcPts val="0"/>
              </a:spcBef>
              <a:spcAft>
                <a:spcPts val="0"/>
              </a:spcAft>
              <a:buClr>
                <a:schemeClr val="dk1"/>
              </a:buClr>
              <a:buSzPct val="100000"/>
              <a:buNone/>
            </a:pPr>
            <a:endParaRPr lang="en-US" altLang="en-US"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sym typeface="+mn-ea"/>
              </a:rPr>
              <a:t>Technology Stack Components</a:t>
            </a:r>
            <a:endParaRPr lang="en-US"/>
          </a:p>
        </p:txBody>
      </p:sp>
      <p:sp>
        <p:nvSpPr>
          <p:cNvPr id="3" name="Text Placeholder 2"/>
          <p:cNvSpPr>
            <a:spLocks noGrp="1"/>
          </p:cNvSpPr>
          <p:nvPr>
            <p:ph type="body" idx="1"/>
          </p:nvPr>
        </p:nvSpPr>
        <p:spPr/>
        <p:txBody>
          <a:bodyPr>
            <a:normAutofit lnSpcReduction="20000"/>
          </a:bodyPr>
          <a:lstStyle/>
          <a:p>
            <a:pPr marL="342900" lvl="0" indent="-190500" algn="just" rtl="0">
              <a:spcBef>
                <a:spcPts val="0"/>
              </a:spcBef>
              <a:spcAft>
                <a:spcPts val="0"/>
              </a:spcAft>
              <a:buClr>
                <a:schemeClr val="dk1"/>
              </a:buClr>
              <a:buSzPct val="100000"/>
              <a:buNone/>
            </a:pPr>
            <a:r>
              <a:rPr lang="en-US" b="1">
                <a:latin typeface="Cambria" panose="02040503050406030204" pitchFamily="18" charset="0"/>
                <a:ea typeface="Cambria" panose="02040503050406030204" pitchFamily="18" charset="0"/>
                <a:sym typeface="+mn-ea"/>
              </a:rPr>
              <a:t>1.</a:t>
            </a:r>
            <a:r>
              <a:rPr lang="en-US" altLang="en-US" b="1">
                <a:latin typeface="Cambria" panose="02040503050406030204" pitchFamily="18" charset="0"/>
                <a:ea typeface="Cambria" panose="02040503050406030204" pitchFamily="18" charset="0"/>
              </a:rPr>
              <a:t>Frontend: </a:t>
            </a:r>
            <a:r>
              <a:rPr lang="en-US" altLang="en-US">
                <a:latin typeface="Cambria" panose="02040503050406030204" pitchFamily="18" charset="0"/>
                <a:ea typeface="Cambria" panose="02040503050406030204" pitchFamily="18" charset="0"/>
              </a:rPr>
              <a:t>HTML, CSS, JavaScript (Flask templates for approval UI)</a:t>
            </a:r>
          </a:p>
          <a:p>
            <a:pPr marL="342900" lvl="0" indent="-190500" algn="just" rtl="0">
              <a:spcBef>
                <a:spcPts val="0"/>
              </a:spcBef>
              <a:spcAft>
                <a:spcPts val="0"/>
              </a:spcAft>
              <a:buClr>
                <a:schemeClr val="dk1"/>
              </a:buClr>
              <a:buSzPct val="100000"/>
              <a:buNone/>
            </a:pPr>
            <a:endParaRPr lang="en-US" altLang="en-US">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b="1">
                <a:latin typeface="Cambria" panose="02040503050406030204" pitchFamily="18" charset="0"/>
                <a:ea typeface="Cambria" panose="02040503050406030204" pitchFamily="18" charset="0"/>
              </a:rPr>
              <a:t>2.Backend:</a:t>
            </a:r>
            <a:r>
              <a:rPr lang="en-US" altLang="en-US">
                <a:latin typeface="Cambria" panose="02040503050406030204" pitchFamily="18" charset="0"/>
                <a:ea typeface="Cambria" panose="02040503050406030204" pitchFamily="18" charset="0"/>
              </a:rPr>
              <a:t> Python (Flask framework)</a:t>
            </a:r>
          </a:p>
          <a:p>
            <a:pPr marL="342900" lvl="0" indent="-190500" algn="just" rtl="0">
              <a:spcBef>
                <a:spcPts val="0"/>
              </a:spcBef>
              <a:spcAft>
                <a:spcPts val="0"/>
              </a:spcAft>
              <a:buClr>
                <a:schemeClr val="dk1"/>
              </a:buClr>
              <a:buSzPct val="100000"/>
              <a:buNone/>
            </a:pPr>
            <a:endParaRPr lang="en-US" altLang="en-US">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b="1">
                <a:latin typeface="Cambria" panose="02040503050406030204" pitchFamily="18" charset="0"/>
                <a:ea typeface="Cambria" panose="02040503050406030204" pitchFamily="18" charset="0"/>
              </a:rPr>
              <a:t>3.AI/ML:</a:t>
            </a:r>
            <a:r>
              <a:rPr lang="en-US" altLang="en-US">
                <a:latin typeface="Cambria" panose="02040503050406030204" pitchFamily="18" charset="0"/>
                <a:ea typeface="Cambria" panose="02040503050406030204" pitchFamily="18" charset="0"/>
              </a:rPr>
              <a:t> Google Cloud Text-to-Speech, NLP keyword extraction, optional GAN for image generation</a:t>
            </a:r>
          </a:p>
          <a:p>
            <a:pPr marL="342900" lvl="0" indent="-190500" algn="just" rtl="0">
              <a:spcBef>
                <a:spcPts val="0"/>
              </a:spcBef>
              <a:spcAft>
                <a:spcPts val="0"/>
              </a:spcAft>
              <a:buClr>
                <a:schemeClr val="dk1"/>
              </a:buClr>
              <a:buSzPct val="100000"/>
              <a:buNone/>
            </a:pPr>
            <a:endParaRPr lang="en-US" altLang="en-US">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b="1">
                <a:latin typeface="Cambria" panose="02040503050406030204" pitchFamily="18" charset="0"/>
                <a:ea typeface="Cambria" panose="02040503050406030204" pitchFamily="18" charset="0"/>
              </a:rPr>
              <a:t>4.Media Processing:</a:t>
            </a:r>
            <a:r>
              <a:rPr lang="en-US" altLang="en-US">
                <a:latin typeface="Cambria" panose="02040503050406030204" pitchFamily="18" charset="0"/>
                <a:ea typeface="Cambria" panose="02040503050406030204" pitchFamily="18" charset="0"/>
              </a:rPr>
              <a:t> MoviePy, FFmpeg</a:t>
            </a:r>
          </a:p>
          <a:p>
            <a:pPr marL="342900" lvl="0" indent="-190500" algn="just" rtl="0">
              <a:spcBef>
                <a:spcPts val="0"/>
              </a:spcBef>
              <a:spcAft>
                <a:spcPts val="0"/>
              </a:spcAft>
              <a:buClr>
                <a:schemeClr val="dk1"/>
              </a:buClr>
              <a:buSzPct val="100000"/>
              <a:buNone/>
            </a:pPr>
            <a:endParaRPr lang="en-US" altLang="en-US">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b="1">
                <a:latin typeface="Cambria" panose="02040503050406030204" pitchFamily="18" charset="0"/>
                <a:ea typeface="Cambria" panose="02040503050406030204" pitchFamily="18" charset="0"/>
              </a:rPr>
              <a:t>5.Database/Storage: </a:t>
            </a:r>
            <a:r>
              <a:rPr lang="en-US" altLang="en-US">
                <a:latin typeface="Cambria" panose="02040503050406030204" pitchFamily="18" charset="0"/>
                <a:ea typeface="Cambria" panose="02040503050406030204" pitchFamily="18" charset="0"/>
              </a:rPr>
              <a:t>Local storage or Cloud (S3/GCS) for media pool</a:t>
            </a:r>
          </a:p>
          <a:p>
            <a:pPr marL="342900" lvl="0" indent="-190500" algn="just" rtl="0">
              <a:spcBef>
                <a:spcPts val="0"/>
              </a:spcBef>
              <a:spcAft>
                <a:spcPts val="0"/>
              </a:spcAft>
              <a:buClr>
                <a:schemeClr val="dk1"/>
              </a:buClr>
              <a:buSzPct val="100000"/>
              <a:buNone/>
            </a:pPr>
            <a:endParaRPr lang="en-US" altLang="en-US">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b="1">
                <a:latin typeface="Cambria" panose="02040503050406030204" pitchFamily="18" charset="0"/>
                <a:ea typeface="Cambria" panose="02040503050406030204" pitchFamily="18" charset="0"/>
              </a:rPr>
              <a:t>6.Integration:</a:t>
            </a:r>
            <a:r>
              <a:rPr lang="en-US" altLang="en-US">
                <a:latin typeface="Cambria" panose="02040503050406030204" pitchFamily="18" charset="0"/>
                <a:ea typeface="Cambria" panose="02040503050406030204" pitchFamily="18" charset="0"/>
              </a:rPr>
              <a:t> Pixabay/Unsplash API for copyright-free images</a:t>
            </a:r>
          </a:p>
          <a:p>
            <a:pPr marL="342900" lvl="0" indent="-190500" algn="just" rtl="0">
              <a:spcBef>
                <a:spcPts val="0"/>
              </a:spcBef>
              <a:spcAft>
                <a:spcPts val="0"/>
              </a:spcAft>
              <a:buClr>
                <a:schemeClr val="dk1"/>
              </a:buClr>
              <a:buSzPct val="100000"/>
              <a:buNone/>
            </a:pPr>
            <a:endParaRPr lang="en-US" altLang="en-US">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r>
              <a:rPr lang="en-US" altLang="en-US" b="1">
                <a:latin typeface="Cambria" panose="02040503050406030204" pitchFamily="18" charset="0"/>
                <a:ea typeface="Cambria" panose="02040503050406030204" pitchFamily="18" charset="0"/>
              </a:rPr>
              <a:t>7.Deployment:</a:t>
            </a:r>
            <a:r>
              <a:rPr lang="en-US" altLang="en-US">
                <a:latin typeface="Cambria" panose="02040503050406030204" pitchFamily="18" charset="0"/>
                <a:ea typeface="Cambria" panose="02040503050406030204" pitchFamily="18" charset="0"/>
              </a:rPr>
              <a:t> Local server / Cloud Run / AWS EC2</a:t>
            </a:r>
          </a:p>
          <a:p>
            <a:pPr marL="342900" lvl="0" indent="-190500" algn="just" rtl="0">
              <a:spcBef>
                <a:spcPts val="0"/>
              </a:spcBef>
              <a:spcAft>
                <a:spcPts val="0"/>
              </a:spcAft>
              <a:buClr>
                <a:schemeClr val="dk1"/>
              </a:buClr>
              <a:buSzPct val="100000"/>
              <a:buNone/>
            </a:pPr>
            <a:endParaRPr lang="en-US">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a:latin typeface="Cambria" panose="02040503050406030204" pitchFamily="18" charset="0"/>
              <a:ea typeface="Cambria" panose="02040503050406030204" pitchFamily="18" charset="0"/>
            </a:endParaRPr>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solidFill>
                  <a:schemeClr val="bg2"/>
                </a:solidFill>
                <a:latin typeface="Cambria"/>
                <a:ea typeface="Cambria"/>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7409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altLang="en-US" dirty="0">
                <a:latin typeface="Cambria" panose="02040503050406030204" pitchFamily="18" charset="0"/>
                <a:ea typeface="Cambria" panose="02040503050406030204" pitchFamily="18" charset="0"/>
              </a:rPr>
              <a:t>https://github.com/Bhargavi-Thummala7330/Batch_179_Text-to-Video-of-Various-Press-Releases-using-AI/blob/main/README.md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sym typeface="+mn-ea"/>
              </a:rPr>
              <a:t>Analysis of Problem Statement </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Autofit/>
          </a:bodyPr>
          <a:lstStyle/>
          <a:p>
            <a:pPr marL="342900" lvl="0" indent="-190500" algn="just" rtl="0">
              <a:lnSpc>
                <a:spcPct val="200000"/>
              </a:lnSpc>
              <a:spcBef>
                <a:spcPts val="0"/>
              </a:spcBef>
              <a:spcAft>
                <a:spcPts val="0"/>
              </a:spcAft>
              <a:buClr>
                <a:schemeClr val="dk1"/>
              </a:buClr>
              <a:buSzPct val="100000"/>
              <a:buNone/>
            </a:pPr>
            <a:r>
              <a:rPr lang="en-US" altLang="en-US" b="1" dirty="0">
                <a:latin typeface="Cambria" panose="02040503050406030204" pitchFamily="18" charset="0"/>
                <a:ea typeface="Cambria" panose="02040503050406030204" pitchFamily="18" charset="0"/>
              </a:rPr>
              <a:t>Software Requirements:</a:t>
            </a:r>
          </a:p>
          <a:p>
            <a:pPr marL="342900" lvl="0" indent="-190500" algn="just" rtl="0">
              <a:lnSpc>
                <a:spcPct val="200000"/>
              </a:lnSpc>
              <a:spcBef>
                <a:spcPts val="0"/>
              </a:spcBef>
              <a:spcAft>
                <a:spcPts val="0"/>
              </a:spcAft>
              <a:buClr>
                <a:schemeClr val="dk1"/>
              </a:buClr>
              <a:buSzPct val="100000"/>
              <a:buNone/>
            </a:pPr>
            <a:r>
              <a:rPr lang="en-US" altLang="en-US" sz="2000" b="1" dirty="0">
                <a:latin typeface="Cambria" panose="02040503050406030204" pitchFamily="18" charset="0"/>
                <a:ea typeface="Cambria" panose="02040503050406030204" pitchFamily="18" charset="0"/>
              </a:rPr>
              <a:t>OS:</a:t>
            </a:r>
            <a:r>
              <a:rPr lang="en-US" altLang="en-US" sz="2000" dirty="0">
                <a:latin typeface="Cambria" panose="02040503050406030204" pitchFamily="18" charset="0"/>
                <a:ea typeface="Cambria" panose="02040503050406030204" pitchFamily="18" charset="0"/>
              </a:rPr>
              <a:t> Windows 10+ / Linux / macOS</a:t>
            </a:r>
          </a:p>
          <a:p>
            <a:pPr marL="342900" lvl="0" indent="-190500" algn="just" rtl="0">
              <a:lnSpc>
                <a:spcPct val="200000"/>
              </a:lnSpc>
              <a:spcBef>
                <a:spcPts val="0"/>
              </a:spcBef>
              <a:spcAft>
                <a:spcPts val="0"/>
              </a:spcAft>
              <a:buClr>
                <a:schemeClr val="dk1"/>
              </a:buClr>
              <a:buSzPct val="100000"/>
              <a:buNone/>
            </a:pPr>
            <a:r>
              <a:rPr lang="en-US" altLang="en-US" sz="2000" b="1" dirty="0">
                <a:latin typeface="Cambria" panose="02040503050406030204" pitchFamily="18" charset="0"/>
                <a:ea typeface="Cambria" panose="02040503050406030204" pitchFamily="18" charset="0"/>
              </a:rPr>
              <a:t>Language:</a:t>
            </a:r>
            <a:r>
              <a:rPr lang="en-US" altLang="en-US" sz="2000" dirty="0">
                <a:latin typeface="Cambria" panose="02040503050406030204" pitchFamily="18" charset="0"/>
                <a:ea typeface="Cambria" panose="02040503050406030204" pitchFamily="18" charset="0"/>
              </a:rPr>
              <a:t> Python 3.10+</a:t>
            </a:r>
          </a:p>
          <a:p>
            <a:pPr marL="342900" lvl="0" indent="-190500" algn="just" rtl="0">
              <a:lnSpc>
                <a:spcPct val="200000"/>
              </a:lnSpc>
              <a:spcBef>
                <a:spcPts val="0"/>
              </a:spcBef>
              <a:spcAft>
                <a:spcPts val="0"/>
              </a:spcAft>
              <a:buClr>
                <a:schemeClr val="dk1"/>
              </a:buClr>
              <a:buSzPct val="100000"/>
              <a:buNone/>
            </a:pPr>
            <a:r>
              <a:rPr lang="en-US" altLang="en-US" sz="2000" b="1" dirty="0">
                <a:latin typeface="Cambria" panose="02040503050406030204" pitchFamily="18" charset="0"/>
                <a:ea typeface="Cambria" panose="02040503050406030204" pitchFamily="18" charset="0"/>
              </a:rPr>
              <a:t>Libraries: </a:t>
            </a:r>
            <a:r>
              <a:rPr lang="en-US" altLang="en-US" sz="2000" dirty="0">
                <a:latin typeface="Cambria" panose="02040503050406030204" pitchFamily="18" charset="0"/>
                <a:ea typeface="Cambria" panose="02040503050406030204" pitchFamily="18" charset="0"/>
              </a:rPr>
              <a:t>Flask, MoviePy, Requests, pydub, Pillow, FFmpeg, Google Cloud TTS SDK (optional)</a:t>
            </a:r>
          </a:p>
          <a:p>
            <a:pPr marL="342900" lvl="0" indent="-190500" algn="just" rtl="0">
              <a:lnSpc>
                <a:spcPct val="200000"/>
              </a:lnSpc>
              <a:spcBef>
                <a:spcPts val="0"/>
              </a:spcBef>
              <a:spcAft>
                <a:spcPts val="0"/>
              </a:spcAft>
              <a:buClr>
                <a:schemeClr val="dk1"/>
              </a:buClr>
              <a:buSzPct val="100000"/>
              <a:buNone/>
            </a:pPr>
            <a:r>
              <a:rPr lang="en-US" altLang="en-US" sz="2000" b="1" dirty="0">
                <a:latin typeface="Cambria" panose="02040503050406030204" pitchFamily="18" charset="0"/>
                <a:ea typeface="Cambria" panose="02040503050406030204" pitchFamily="18" charset="0"/>
              </a:rPr>
              <a:t>Storage:</a:t>
            </a:r>
            <a:r>
              <a:rPr lang="en-US" altLang="en-US" sz="2000" dirty="0">
                <a:latin typeface="Cambria" panose="02040503050406030204" pitchFamily="18" charset="0"/>
                <a:ea typeface="Cambria" panose="02040503050406030204" pitchFamily="18" charset="0"/>
              </a:rPr>
              <a:t> Local or Cloud (S3 / GCS)</a:t>
            </a:r>
          </a:p>
          <a:p>
            <a:pPr marL="342900" lvl="0" indent="-190500" algn="just" rtl="0">
              <a:lnSpc>
                <a:spcPct val="200000"/>
              </a:lnSpc>
              <a:spcBef>
                <a:spcPts val="0"/>
              </a:spcBef>
              <a:spcAft>
                <a:spcPts val="0"/>
              </a:spcAft>
              <a:buClr>
                <a:schemeClr val="dk1"/>
              </a:buClr>
              <a:buSzPct val="100000"/>
              <a:buNone/>
            </a:pPr>
            <a:r>
              <a:rPr lang="en-US" altLang="en-US" sz="2000" b="1" dirty="0">
                <a:latin typeface="Cambria" panose="02040503050406030204" pitchFamily="18" charset="0"/>
                <a:ea typeface="Cambria" panose="02040503050406030204" pitchFamily="18" charset="0"/>
              </a:rPr>
              <a:t>Version Control: </a:t>
            </a:r>
            <a:r>
              <a:rPr lang="en-US" altLang="en-US" sz="2000" dirty="0">
                <a:latin typeface="Cambria" panose="02040503050406030204" pitchFamily="18" charset="0"/>
                <a:ea typeface="Cambria" panose="02040503050406030204" pitchFamily="18" charset="0"/>
              </a:rPr>
              <a:t>Git + GitHub</a:t>
            </a:r>
          </a:p>
          <a:p>
            <a:pPr marL="342900" lvl="0" indent="-190500" algn="just" rtl="0">
              <a:lnSpc>
                <a:spcPct val="200000"/>
              </a:lnSpc>
              <a:spcBef>
                <a:spcPts val="0"/>
              </a:spcBef>
              <a:spcAft>
                <a:spcPts val="0"/>
              </a:spcAft>
              <a:buClr>
                <a:schemeClr val="dk1"/>
              </a:buClr>
              <a:buSzPct val="100000"/>
              <a:buNone/>
            </a:pPr>
            <a:r>
              <a:rPr lang="en-US" altLang="en-US" sz="2000" b="1" dirty="0">
                <a:latin typeface="Cambria" panose="02040503050406030204" pitchFamily="18" charset="0"/>
                <a:ea typeface="Cambria" panose="02040503050406030204" pitchFamily="18" charset="0"/>
              </a:rPr>
              <a:t>Tools:</a:t>
            </a:r>
            <a:r>
              <a:rPr lang="en-US" altLang="en-US" sz="2000" dirty="0">
                <a:latin typeface="Cambria" panose="02040503050406030204" pitchFamily="18" charset="0"/>
                <a:ea typeface="Cambria" panose="02040503050406030204" pitchFamily="18" charset="0"/>
              </a:rPr>
              <a:t> VS Code, Browser (Chrome/Firefox)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157480" y="0"/>
            <a:ext cx="8947150" cy="817245"/>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GB" sz="2800" dirty="0">
                <a:solidFill>
                  <a:schemeClr val="bg2"/>
                </a:solidFill>
                <a:latin typeface="Cambria"/>
                <a:ea typeface="Cambria"/>
                <a:sym typeface="+mn-ea"/>
              </a:rPr>
              <a:t>Timeline of the Project (Gantt Chart)</a:t>
            </a:r>
            <a:endParaRPr lang="en-US" sz="2800" dirty="0">
              <a:solidFill>
                <a:schemeClr val="bg2"/>
              </a:solidFill>
              <a:latin typeface="Cambria"/>
              <a:ea typeface="Cambria"/>
            </a:endParaRPr>
          </a:p>
        </p:txBody>
      </p:sp>
      <p:sp>
        <p:nvSpPr>
          <p:cNvPr id="6" name="Text Placeholder 5"/>
          <p:cNvSpPr>
            <a:spLocks noGrp="1"/>
          </p:cNvSpPr>
          <p:nvPr>
            <p:ph type="body" idx="1"/>
          </p:nvPr>
        </p:nvSpPr>
        <p:spPr/>
        <p:txBody>
          <a:bodyPr/>
          <a:lstStyle/>
          <a:p>
            <a:endParaRPr lang="en-US"/>
          </a:p>
        </p:txBody>
      </p:sp>
      <p:pic>
        <p:nvPicPr>
          <p:cNvPr id="4" name="Picture Placeholder 3" descr="A graph of a project&#10;&#10;AI-generated content may be incorrect.">
            <a:extLst>
              <a:ext uri="{FF2B5EF4-FFF2-40B4-BE49-F238E27FC236}">
                <a16:creationId xmlns:a16="http://schemas.microsoft.com/office/drawing/2014/main" id="{E4EC059F-4B4B-D81C-090B-ABBCFAB7BAA1}"/>
              </a:ext>
            </a:extLst>
          </p:cNvPr>
          <p:cNvPicPr>
            <a:picLocks noGrp="1" noChangeAspect="1"/>
          </p:cNvPicPr>
          <p:nvPr>
            <p:ph type="pic" idx="2"/>
          </p:nvPr>
        </p:nvPicPr>
        <p:blipFill>
          <a:blip r:embed="rId3"/>
          <a:srcRect t="1857" b="1857"/>
          <a:stretch/>
        </p:blipFill>
        <p:spPr>
          <a:xfrm>
            <a:off x="1686966" y="1076756"/>
            <a:ext cx="8604463" cy="53436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BE4E5-F896-111F-C06E-45E52390F611}"/>
              </a:ext>
            </a:extLst>
          </p:cNvPr>
          <p:cNvSpPr>
            <a:spLocks noGrp="1"/>
          </p:cNvSpPr>
          <p:nvPr>
            <p:ph type="title"/>
          </p:nvPr>
        </p:nvSpPr>
        <p:spPr>
          <a:xfrm>
            <a:off x="853017" y="266700"/>
            <a:ext cx="8851900" cy="490500"/>
          </a:xfrm>
        </p:spPr>
        <p:txBody>
          <a:bodyPr/>
          <a:lstStyle/>
          <a:p>
            <a:r>
              <a:rPr lang="en-US" sz="2800" dirty="0">
                <a:solidFill>
                  <a:schemeClr val="bg2"/>
                </a:solidFill>
                <a:latin typeface="Calibri"/>
              </a:rPr>
              <a:t>Results</a:t>
            </a:r>
          </a:p>
        </p:txBody>
      </p:sp>
      <p:pic>
        <p:nvPicPr>
          <p:cNvPr id="5" name="Picture Placeholder 4" descr="A screenshot of a computer&#10;&#10;AI-generated content may be incorrect.">
            <a:extLst>
              <a:ext uri="{FF2B5EF4-FFF2-40B4-BE49-F238E27FC236}">
                <a16:creationId xmlns:a16="http://schemas.microsoft.com/office/drawing/2014/main" id="{D16E42A4-4ADF-0CAB-5D0A-ADA10CCB41A0}"/>
              </a:ext>
            </a:extLst>
          </p:cNvPr>
          <p:cNvPicPr>
            <a:picLocks noGrp="1" noChangeAspect="1"/>
          </p:cNvPicPr>
          <p:nvPr>
            <p:ph type="pic" idx="2"/>
          </p:nvPr>
        </p:nvPicPr>
        <p:blipFill>
          <a:blip r:embed="rId2"/>
          <a:srcRect t="17747" b="17747"/>
          <a:stretch/>
        </p:blipFill>
        <p:spPr>
          <a:xfrm>
            <a:off x="1286441" y="1485201"/>
            <a:ext cx="10285708" cy="3739180"/>
          </a:xfrm>
          <a:prstGeom prst="rect">
            <a:avLst/>
          </a:prstGeom>
          <a:noFill/>
          <a:ln>
            <a:noFill/>
          </a:ln>
        </p:spPr>
      </p:pic>
      <p:sp>
        <p:nvSpPr>
          <p:cNvPr id="4" name="Text Placeholder 3">
            <a:extLst>
              <a:ext uri="{FF2B5EF4-FFF2-40B4-BE49-F238E27FC236}">
                <a16:creationId xmlns:a16="http://schemas.microsoft.com/office/drawing/2014/main" id="{4101D01C-A3A4-8E04-FEDC-77ECA0D494D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38316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D7914-5996-6C6B-7020-529B8011FDDF}"/>
              </a:ext>
            </a:extLst>
          </p:cNvPr>
          <p:cNvSpPr>
            <a:spLocks noGrp="1"/>
          </p:cNvSpPr>
          <p:nvPr>
            <p:ph type="title"/>
          </p:nvPr>
        </p:nvSpPr>
        <p:spPr/>
        <p:txBody>
          <a:bodyPr/>
          <a:lstStyle/>
          <a:p>
            <a:endParaRPr lang="en-US"/>
          </a:p>
        </p:txBody>
      </p:sp>
      <p:pic>
        <p:nvPicPr>
          <p:cNvPr id="5" name="Picture Placeholder 4" descr="A screenshot of a computer&#10;&#10;AI-generated content may be incorrect.">
            <a:extLst>
              <a:ext uri="{FF2B5EF4-FFF2-40B4-BE49-F238E27FC236}">
                <a16:creationId xmlns:a16="http://schemas.microsoft.com/office/drawing/2014/main" id="{EE835D9C-6B1E-6A36-D746-1EB526D9E522}"/>
              </a:ext>
            </a:extLst>
          </p:cNvPr>
          <p:cNvPicPr>
            <a:picLocks noGrp="1" noChangeAspect="1"/>
          </p:cNvPicPr>
          <p:nvPr>
            <p:ph type="pic" idx="2"/>
          </p:nvPr>
        </p:nvPicPr>
        <p:blipFill>
          <a:blip r:embed="rId2"/>
          <a:srcRect/>
          <a:stretch/>
        </p:blipFill>
        <p:spPr>
          <a:xfrm>
            <a:off x="2441378" y="1374775"/>
            <a:ext cx="7315200" cy="4114800"/>
          </a:xfrm>
          <a:prstGeom prst="rect">
            <a:avLst/>
          </a:prstGeom>
          <a:noFill/>
          <a:ln>
            <a:noFill/>
          </a:ln>
        </p:spPr>
      </p:pic>
      <p:sp>
        <p:nvSpPr>
          <p:cNvPr id="4" name="Text Placeholder 3">
            <a:extLst>
              <a:ext uri="{FF2B5EF4-FFF2-40B4-BE49-F238E27FC236}">
                <a16:creationId xmlns:a16="http://schemas.microsoft.com/office/drawing/2014/main" id="{CF8F9C32-EE2C-C45C-E350-69DD3B27A35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5749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009B1-55DC-EE3F-FA2C-C1AB9144A913}"/>
              </a:ext>
            </a:extLst>
          </p:cNvPr>
          <p:cNvSpPr>
            <a:spLocks noGrp="1"/>
          </p:cNvSpPr>
          <p:nvPr>
            <p:ph type="title"/>
          </p:nvPr>
        </p:nvSpPr>
        <p:spPr/>
        <p:txBody>
          <a:bodyPr/>
          <a:lstStyle/>
          <a:p>
            <a:endParaRPr lang="en-US"/>
          </a:p>
        </p:txBody>
      </p:sp>
      <p:pic>
        <p:nvPicPr>
          <p:cNvPr id="5" name="Picture Placeholder 4" descr="A screenshot of a computer&#10;&#10;AI-generated content may be incorrect.">
            <a:extLst>
              <a:ext uri="{FF2B5EF4-FFF2-40B4-BE49-F238E27FC236}">
                <a16:creationId xmlns:a16="http://schemas.microsoft.com/office/drawing/2014/main" id="{9B0998E6-2D74-6E1A-939D-3BE3DBF5457C}"/>
              </a:ext>
            </a:extLst>
          </p:cNvPr>
          <p:cNvPicPr>
            <a:picLocks noGrp="1" noChangeAspect="1"/>
          </p:cNvPicPr>
          <p:nvPr>
            <p:ph type="pic" idx="2"/>
          </p:nvPr>
        </p:nvPicPr>
        <p:blipFill>
          <a:blip r:embed="rId2"/>
          <a:srcRect/>
          <a:stretch/>
        </p:blipFill>
        <p:spPr>
          <a:xfrm>
            <a:off x="2401888" y="1374775"/>
            <a:ext cx="8255000" cy="4622800"/>
          </a:xfrm>
          <a:prstGeom prst="rect">
            <a:avLst/>
          </a:prstGeom>
          <a:noFill/>
          <a:ln>
            <a:noFill/>
          </a:ln>
        </p:spPr>
      </p:pic>
      <p:sp>
        <p:nvSpPr>
          <p:cNvPr id="4" name="Text Placeholder 3">
            <a:extLst>
              <a:ext uri="{FF2B5EF4-FFF2-40B4-BE49-F238E27FC236}">
                <a16:creationId xmlns:a16="http://schemas.microsoft.com/office/drawing/2014/main" id="{3C2A6797-9825-6165-8C88-0F25EAD3A6A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70781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a:latin typeface="Cambria" panose="02040503050406030204" pitchFamily="18" charset="0"/>
                <a:ea typeface="Cambria" panose="02040503050406030204" pitchFamily="18" charset="0"/>
                <a:sym typeface="+mn-ea"/>
              </a:rPr>
              <a:t>References (IEEE Paper format)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sz="2000" dirty="0">
              <a:latin typeface="Cambria" panose="02040503050406030204" pitchFamily="18" charset="0"/>
              <a:ea typeface="Cambria" panose="02040503050406030204" pitchFamily="18" charset="0"/>
              <a:cs typeface="Cambria" panose="02040503050406030204" pitchFamily="18" charset="0"/>
            </a:endParaRPr>
          </a:p>
          <a:p>
            <a:pPr>
              <a:defRPr sz="1400"/>
            </a:pPr>
            <a:r>
              <a:rPr sz="2000">
                <a:latin typeface="Cambria" panose="02040503050406030204" pitchFamily="18" charset="0"/>
                <a:cs typeface="Cambria" panose="02040503050406030204" pitchFamily="18" charset="0"/>
                <a:sym typeface="+mn-ea"/>
              </a:rPr>
              <a:t>[1] A. Kumar, B. R. Patel, and C. Zhang, “Plant disease identification using convolutional neural networks,” IEEE Access, vol. 9, pp. 34567–34578, Mar. 2021.</a:t>
            </a:r>
          </a:p>
          <a:p>
            <a:pPr>
              <a:defRPr sz="1400"/>
            </a:pPr>
            <a:r>
              <a:rPr sz="2000">
                <a:latin typeface="Cambria" panose="02040503050406030204" pitchFamily="18" charset="0"/>
                <a:cs typeface="Cambria" panose="02040503050406030204" pitchFamily="18" charset="0"/>
                <a:sym typeface="+mn-ea"/>
              </a:rPr>
              <a:t>[2] J. Smith, “Deep learning in agricultural systems,” IEEE Trans. Neural Netw. Learn. Syst., vol. 32, no. 7, pp. 1234–1245, Jul. 2021.</a:t>
            </a:r>
          </a:p>
          <a:p>
            <a:pPr>
              <a:defRPr sz="1400"/>
            </a:pPr>
            <a:r>
              <a:rPr sz="2000">
                <a:latin typeface="Cambria" panose="02040503050406030204" pitchFamily="18" charset="0"/>
                <a:cs typeface="Cambria" panose="02040503050406030204" pitchFamily="18" charset="0"/>
                <a:sym typeface="+mn-ea"/>
              </a:rPr>
              <a:t>[3] S. Gupta, P. Roy, “Automated video generation from text using deep learning,” Proc. IEEE Int. Conf. AI &amp; Data Eng., pp. 112–118, Dec. 2022.</a:t>
            </a:r>
          </a:p>
          <a:p>
            <a:pPr>
              <a:defRPr sz="1400"/>
            </a:pPr>
            <a:r>
              <a:rPr sz="2000">
                <a:latin typeface="Cambria" panose="02040503050406030204" pitchFamily="18" charset="0"/>
                <a:cs typeface="Cambria" panose="02040503050406030204" pitchFamily="18" charset="0"/>
                <a:sym typeface="+mn-ea"/>
              </a:rPr>
              <a:t>[4] Google Cloud, “Text-to-Speech documentation,” Available: cloud.google.com/text-to-speech/docs.</a:t>
            </a:r>
          </a:p>
          <a:p>
            <a:pPr>
              <a:defRPr sz="1400"/>
            </a:pPr>
            <a:r>
              <a:rPr sz="2000">
                <a:latin typeface="Cambria" panose="02040503050406030204" pitchFamily="18" charset="0"/>
                <a:cs typeface="Cambria" panose="02040503050406030204" pitchFamily="18" charset="0"/>
                <a:sym typeface="+mn-ea"/>
              </a:rPr>
              <a:t>[5] Pixabay, “Pixabay API documentation,” Available: pixabay.com/api/docs/.</a:t>
            </a:r>
          </a:p>
          <a:p>
            <a:pPr marL="342900" lvl="0" indent="-190500" algn="just" rtl="0">
              <a:spcBef>
                <a:spcPts val="0"/>
              </a:spcBef>
              <a:spcAft>
                <a:spcPts val="0"/>
              </a:spcAft>
              <a:buClr>
                <a:schemeClr val="dk1"/>
              </a:buClr>
              <a:buSzPct val="100000"/>
              <a:buNone/>
            </a:pPr>
            <a:endParaRPr sz="2000" dirty="0">
              <a:latin typeface="Cambria" panose="02040503050406030204" pitchFamily="18" charset="0"/>
              <a:ea typeface="Cambria" panose="02040503050406030204" pitchFamily="18" charset="0"/>
              <a:cs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4273</Words>
  <Application>Microsoft Office PowerPoint</Application>
  <PresentationFormat>Widescreen</PresentationFormat>
  <Paragraphs>153</Paragraphs>
  <Slides>16</Slides>
  <Notes>10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Bioinformatics</vt:lpstr>
      <vt:lpstr>Text-to-Video of Various PIB Press Releases using Artificial Intelligence / Machine Learning / Generative Adversarial Networks in English and 13 Regional Languages</vt:lpstr>
      <vt:lpstr>Problem Statement Number: PSCS_36</vt:lpstr>
      <vt:lpstr>Content</vt:lpstr>
      <vt:lpstr>Content (continuation)..</vt:lpstr>
      <vt:lpstr>Objectives:</vt:lpstr>
      <vt:lpstr>Background and Related Work:</vt:lpstr>
      <vt:lpstr>Innovation or Novel Contributions:</vt:lpstr>
      <vt:lpstr>Technology Stack Components</vt:lpstr>
      <vt:lpstr>Github Link</vt:lpstr>
      <vt:lpstr>Analysis of Problem Statement </vt:lpstr>
      <vt:lpstr>Timeline of the Project (Gantt Chart)</vt:lpstr>
      <vt:lpstr>Results</vt:lpstr>
      <vt:lpstr>PowerPoint Presentation</vt:lpstr>
      <vt:lpstr>PowerPoint Presentation</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Sajida D</cp:lastModifiedBy>
  <cp:revision>88</cp:revision>
  <dcterms:created xsi:type="dcterms:W3CDTF">2025-08-10T15:23:00Z</dcterms:created>
  <dcterms:modified xsi:type="dcterms:W3CDTF">2025-12-02T17:12:39Z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2F3B28DF5DF94734B0E223C748616F0C_12</vt:lpwstr>
  </property>
  <property fmtid="{D5CDD505-2E9C-101B-9397-08002B2CF9AE}" pid="3" name="KSOProductBuildVer">
    <vt:lpwstr>1033-12.2.0.21931</vt:lpwstr>
  </property>
</Properties>
</file>